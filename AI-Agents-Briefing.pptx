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/>
          <a:srcRect l="11804" t="0" r="11804" b="0"/>
          <a:stretch/>
        </p:blipFill>
        <p:spPr>
          <a:xfrm>
            <a:off x="8001000" y="0"/>
            <a:ext cx="4190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Box 4"/>
          <p:cNvSpPr/>
          <p:nvPr/>
        </p:nvSpPr>
        <p:spPr>
          <a:xfrm>
            <a:off x="762120" y="1428840"/>
            <a:ext cx="666720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INTERNAL TECHNICAL BRIEFING · SEPTEMBER 30,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762120" y="2000160"/>
            <a:ext cx="666720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5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AGE OF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/>
          <p:cNvSpPr/>
          <p:nvPr/>
        </p:nvSpPr>
        <p:spPr>
          <a:xfrm>
            <a:off x="762120" y="3048120"/>
            <a:ext cx="666720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5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AI AGENTS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762120" y="4476600"/>
            <a:ext cx="6667200" cy="514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20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Chatbots answered questions. Agents finish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8"/>
          <p:cNvSpPr/>
          <p:nvPr/>
        </p:nvSpPr>
        <p:spPr>
          <a:xfrm>
            <a:off x="762120" y="5191200"/>
            <a:ext cx="6476760" cy="799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400" b="0" u="none" strike="noStrike">
                <a:solidFill>
                  <a:srgbClr val="5C6B80"/>
                </a:solidFill>
                <a:effectLst/>
                <a:uFillTx/>
                <a:latin typeface="Segoe UI"/>
                <a:ea typeface="Segoe UI"/>
              </a:rPr>
              <a:t>How Dots, Grok Team Bots and the rest are actually built — how agents are built today and where that is going — what our prototype already does — and what it would take to build ours.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"/>
          <p:cNvSpPr/>
          <p:nvPr/>
        </p:nvSpPr>
        <p:spPr>
          <a:xfrm>
            <a:off x="762120" y="1619280"/>
            <a:ext cx="3428640" cy="1676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01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Box 4"/>
          <p:cNvSpPr/>
          <p:nvPr/>
        </p:nvSpPr>
        <p:spPr>
          <a:xfrm>
            <a:off x="762120" y="3333600"/>
            <a:ext cx="5714640" cy="603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new race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5"/>
          <p:cNvSpPr/>
          <p:nvPr/>
        </p:nvSpPr>
        <p:spPr>
          <a:xfrm>
            <a:off x="762120" y="4000680"/>
            <a:ext cx="5333760" cy="761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What the giants shipped in the last twelve months — and what each launch actually is under the hood.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7238880" y="1619280"/>
            <a:ext cx="4190760" cy="361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7"/>
          <p:cNvSpPr/>
          <p:nvPr/>
        </p:nvSpPr>
        <p:spPr>
          <a:xfrm>
            <a:off x="7505640" y="1847880"/>
            <a:ext cx="361908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IN THIS PART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Box 8"/>
          <p:cNvSpPr/>
          <p:nvPr/>
        </p:nvSpPr>
        <p:spPr>
          <a:xfrm>
            <a:off x="7505640" y="2190600"/>
            <a:ext cx="3657240" cy="285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an agent actually is — the loop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launch calendar, Dec 2025 → today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Anatomy: OpenAI Dots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Anatomy: xAI Grok Team Bots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Anatomy: Manus · Cowork · Google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762120" y="6058080"/>
            <a:ext cx="132840" cy="132840"/>
          </a:xfrm>
          <a:prstGeom prst="ellipse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104760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133344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161928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13"/>
          <p:cNvSpPr/>
          <p:nvPr/>
        </p:nvSpPr>
        <p:spPr>
          <a:xfrm>
            <a:off x="1905120" y="6019920"/>
            <a:ext cx="19047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PART 1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TECHNICAL PRIMER · 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4"/>
          <p:cNvSpPr/>
          <p:nvPr/>
        </p:nvSpPr>
        <p:spPr>
          <a:xfrm>
            <a:off x="762120" y="819000"/>
            <a:ext cx="952452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an AI agent actually is — the loop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762120" y="1828800"/>
            <a:ext cx="1428480" cy="62820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6"/>
          <p:cNvSpPr/>
          <p:nvPr/>
        </p:nvSpPr>
        <p:spPr>
          <a:xfrm>
            <a:off x="762120" y="1943280"/>
            <a:ext cx="142848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GOAL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2286000" y="2038320"/>
            <a:ext cx="4759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2857680" y="1666800"/>
            <a:ext cx="1714320" cy="952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5143680" y="1666800"/>
            <a:ext cx="1714320" cy="952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7429680" y="1666800"/>
            <a:ext cx="1714320" cy="952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9715680" y="1666800"/>
            <a:ext cx="1714320" cy="95220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12"/>
          <p:cNvSpPr/>
          <p:nvPr/>
        </p:nvSpPr>
        <p:spPr>
          <a:xfrm>
            <a:off x="5143680" y="1790640"/>
            <a:ext cx="1714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13"/>
          <p:cNvSpPr/>
          <p:nvPr/>
        </p:nvSpPr>
        <p:spPr>
          <a:xfrm>
            <a:off x="2857680" y="1790640"/>
            <a:ext cx="1714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PLAN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14"/>
          <p:cNvSpPr/>
          <p:nvPr/>
        </p:nvSpPr>
        <p:spPr>
          <a:xfrm>
            <a:off x="9715680" y="1790640"/>
            <a:ext cx="1714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DELIVER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15"/>
          <p:cNvSpPr/>
          <p:nvPr/>
        </p:nvSpPr>
        <p:spPr>
          <a:xfrm>
            <a:off x="2952720" y="2076480"/>
            <a:ext cx="1523520" cy="475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break the goal into steps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6"/>
          <p:cNvSpPr/>
          <p:nvPr/>
        </p:nvSpPr>
        <p:spPr>
          <a:xfrm>
            <a:off x="5238720" y="2076480"/>
            <a:ext cx="1523520" cy="475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calls a tool: email,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CRM, browser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7"/>
          <p:cNvSpPr/>
          <p:nvPr/>
        </p:nvSpPr>
        <p:spPr>
          <a:xfrm>
            <a:off x="7524720" y="2076480"/>
            <a:ext cx="1523520" cy="475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reads the result,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updates state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18"/>
          <p:cNvSpPr/>
          <p:nvPr/>
        </p:nvSpPr>
        <p:spPr>
          <a:xfrm>
            <a:off x="9791640" y="2076480"/>
            <a:ext cx="1561680" cy="475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1150" b="0" u="none" strike="noStrike">
                <a:solidFill>
                  <a:srgbClr val="D6E0F0"/>
                </a:solidFill>
                <a:effectLst/>
                <a:uFillTx/>
                <a:latin typeface="Segoe UI"/>
                <a:ea typeface="Segoe UI"/>
              </a:rPr>
              <a:t>a human reviews at checkpoints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4667400" y="2038320"/>
            <a:ext cx="4759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6953400" y="2038320"/>
            <a:ext cx="4759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9239400" y="2038320"/>
            <a:ext cx="475920" cy="209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22"/>
          <p:cNvSpPr/>
          <p:nvPr/>
        </p:nvSpPr>
        <p:spPr>
          <a:xfrm>
            <a:off x="7429680" y="1790640"/>
            <a:ext cx="1714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OBSERVE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23"/>
          <p:cNvSpPr/>
          <p:nvPr/>
        </p:nvSpPr>
        <p:spPr>
          <a:xfrm>
            <a:off x="762120" y="2819520"/>
            <a:ext cx="1523520" cy="409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one clear outcome, set by a human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3048120" y="2857680"/>
            <a:ext cx="6095520" cy="1900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25"/>
          <p:cNvSpPr/>
          <p:nvPr/>
        </p:nvSpPr>
        <p:spPr>
          <a:xfrm>
            <a:off x="3048120" y="3143160"/>
            <a:ext cx="6095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</a:pPr>
            <a:r>
              <a:rPr lang="en-US" sz="1200" b="0" i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repeat — plan, act, observe — until the goal is met or a limit stops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6"/>
          <p:cNvSpPr/>
          <p:nvPr/>
        </p:nvSpPr>
        <p:spPr>
          <a:xfrm>
            <a:off x="762120" y="38098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4381560" y="38098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8"/>
          <p:cNvSpPr/>
          <p:nvPr/>
        </p:nvSpPr>
        <p:spPr>
          <a:xfrm>
            <a:off x="8001000" y="38098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29"/>
          <p:cNvSpPr/>
          <p:nvPr/>
        </p:nvSpPr>
        <p:spPr>
          <a:xfrm>
            <a:off x="1028880" y="403848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MEMORY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30"/>
          <p:cNvSpPr/>
          <p:nvPr/>
        </p:nvSpPr>
        <p:spPr>
          <a:xfrm>
            <a:off x="4648320" y="403848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TOOLS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31"/>
          <p:cNvSpPr/>
          <p:nvPr/>
        </p:nvSpPr>
        <p:spPr>
          <a:xfrm>
            <a:off x="8267760" y="403848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GUARDRAILS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32"/>
          <p:cNvSpPr/>
          <p:nvPr/>
        </p:nvSpPr>
        <p:spPr>
          <a:xfrm>
            <a:off x="1028880" y="4381560"/>
            <a:ext cx="2895120" cy="1333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Keeps task state: what is done, what is left, what was learned. Without it, the agent forgets after every step — this is the core difference from a chatbot.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33"/>
          <p:cNvSpPr/>
          <p:nvPr/>
        </p:nvSpPr>
        <p:spPr>
          <a:xfrm>
            <a:off x="4648320" y="4381560"/>
            <a:ext cx="2895120" cy="1333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agent's hands: email, CRM, browser, files, databases. Each action is a real API call that the model itself chooses. Tools define what the agent is allowed to touch.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34"/>
          <p:cNvSpPr/>
          <p:nvPr/>
        </p:nvSpPr>
        <p:spPr>
          <a:xfrm>
            <a:off x="8267760" y="4381560"/>
            <a:ext cx="2895120" cy="1333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What makes it employable: permissions, spend and step budgets, and human approval before anything irreversible happens.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35"/>
          <p:cNvSpPr/>
          <p:nvPr/>
        </p:nvSpPr>
        <p:spPr>
          <a:xfrm>
            <a:off x="762120" y="5962680"/>
            <a:ext cx="10667520" cy="342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5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Every product on the next slides is this loop — wearing different clothes.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RACE · 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Everyone is shipping agents. Watch the calendar.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23800" y="1523880"/>
            <a:ext cx="1999800" cy="161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095800" y="1523880"/>
            <a:ext cx="1999800" cy="161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9667800" y="1523880"/>
            <a:ext cx="1999800" cy="16189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2809800" y="3809880"/>
            <a:ext cx="1999800" cy="161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7381800" y="3809880"/>
            <a:ext cx="1999800" cy="1618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666720" y="1676520"/>
            <a:ext cx="1714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DEC 2025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1"/>
          <p:cNvSpPr/>
          <p:nvPr/>
        </p:nvSpPr>
        <p:spPr>
          <a:xfrm>
            <a:off x="666720" y="1962000"/>
            <a:ext cx="1714320" cy="1123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Manus, the independent agent with millions of users, joins Meta. Its desktop agent app followed in March.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2"/>
          <p:cNvSpPr/>
          <p:nvPr/>
        </p:nvSpPr>
        <p:spPr>
          <a:xfrm>
            <a:off x="2952720" y="3962520"/>
            <a:ext cx="1714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JAN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3"/>
          <p:cNvSpPr/>
          <p:nvPr/>
        </p:nvSpPr>
        <p:spPr>
          <a:xfrm>
            <a:off x="2952720" y="4248000"/>
            <a:ext cx="1714320" cy="1123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Anthropic launches Cowork: an agent that manages files and work for non-coders.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4"/>
          <p:cNvSpPr/>
          <p:nvPr/>
        </p:nvSpPr>
        <p:spPr>
          <a:xfrm>
            <a:off x="5238720" y="1676520"/>
            <a:ext cx="1714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APR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5"/>
          <p:cNvSpPr/>
          <p:nvPr/>
        </p:nvSpPr>
        <p:spPr>
          <a:xfrm>
            <a:off x="5238720" y="1962000"/>
            <a:ext cx="1714320" cy="1123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Google opens the Gemini Enterprise Agent Platform for business agents at scale.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6"/>
          <p:cNvSpPr/>
          <p:nvPr/>
        </p:nvSpPr>
        <p:spPr>
          <a:xfrm>
            <a:off x="7524720" y="3962520"/>
            <a:ext cx="1714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JUL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7524720" y="4248000"/>
            <a:ext cx="1714320" cy="1123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OpenAI launches Presence, helping enterprises deploy trusted AI agents on their own channels.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9810720" y="1676520"/>
            <a:ext cx="1714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BFD4FF"/>
                </a:solidFill>
                <a:effectLst/>
                <a:uFillTx/>
                <a:latin typeface="Segoe UI"/>
                <a:ea typeface="Segoe UI"/>
              </a:rPr>
              <a:t>SEP 29,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9"/>
          <p:cNvSpPr/>
          <p:nvPr/>
        </p:nvSpPr>
        <p:spPr>
          <a:xfrm>
            <a:off x="9810720" y="1962000"/>
            <a:ext cx="1714320" cy="11235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One day, two launches: OpenAI unveils Dots, always-on assistants; xAI answers with Grok Team Bots.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762120" y="3390840"/>
            <a:ext cx="10667520" cy="37800"/>
          </a:xfrm>
          <a:prstGeom prst="rect">
            <a:avLst/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1447920" y="3333600"/>
            <a:ext cx="151920" cy="151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2"/>
          <p:cNvSpPr/>
          <p:nvPr/>
        </p:nvSpPr>
        <p:spPr>
          <a:xfrm>
            <a:off x="3733920" y="3333600"/>
            <a:ext cx="151920" cy="151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019920" y="3333600"/>
            <a:ext cx="151920" cy="151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4"/>
          <p:cNvSpPr/>
          <p:nvPr/>
        </p:nvSpPr>
        <p:spPr>
          <a:xfrm>
            <a:off x="8305920" y="3333600"/>
            <a:ext cx="151920" cy="1519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F6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10553760" y="3295800"/>
            <a:ext cx="228240" cy="228240"/>
          </a:xfrm>
          <a:prstGeom prst="ellipse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6"/>
          <p:cNvSpPr/>
          <p:nvPr/>
        </p:nvSpPr>
        <p:spPr>
          <a:xfrm>
            <a:off x="762120" y="588636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0000"/>
              </a:lnSpc>
            </a:pPr>
            <a:r>
              <a:rPr lang="en-US" sz="15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question is no longer whether agents matter — it is who turns them into working business tools first.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PRODUCT ANATOMY · 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OpenAI Dots: an assistant that never logs off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762120" y="1676520"/>
            <a:ext cx="5333760" cy="4409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Launched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September 29, 2026 at OpenAI DevDay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Form: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always-on personal assistant; completes tasks automatically and learns from feedback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Runs on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secure cloud computer — a real machine per assistant, not a chat window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Engine: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GPT-6.1 Sol, tuned for agentic coding, computer use and professional work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Model prices: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$2 per million input tokens, $0.10 cached, $10 output — rented by the drop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Plans: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Pro and Business Premium tiers; Pro at $500/month adds an ultrafast 300 tokens-per-second mode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Team mode: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ChatGPT Space shares project context so several dots work as coworkers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6667560" y="1676520"/>
            <a:ext cx="4476240" cy="83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6667560" y="2666880"/>
            <a:ext cx="4476240" cy="83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6667560" y="3657600"/>
            <a:ext cx="4476240" cy="83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6667560" y="4648320"/>
            <a:ext cx="4476240" cy="8377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6858000" y="1809720"/>
            <a:ext cx="419076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SECURED CLOUD COMPUTER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6858000" y="2114640"/>
            <a:ext cx="4095360" cy="32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dedicated machine the dot uses like a person uses a laptop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6858000" y="2800440"/>
            <a:ext cx="419076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ALWAYS-ON SCHEDULER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3"/>
          <p:cNvSpPr/>
          <p:nvPr/>
        </p:nvSpPr>
        <p:spPr>
          <a:xfrm>
            <a:off x="6858000" y="3105000"/>
            <a:ext cx="4095360" cy="41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works while you sleep; reacts to email, calendar and your instructions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6858000" y="3790800"/>
            <a:ext cx="419076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MEMORY + FEEDBACK LEARNING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6858000" y="4095720"/>
            <a:ext cx="4095360" cy="32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corrections stick; context survives across days, not just one chat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6858000" y="4781520"/>
            <a:ext cx="419076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GPT-6.1 SOL — THE MODEL LAYER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6858000" y="5162400"/>
            <a:ext cx="4095360" cy="409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rented by tokens; OpenAI's own agent runs on it, and so can ours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8"/>
          <p:cNvSpPr/>
          <p:nvPr/>
        </p:nvSpPr>
        <p:spPr>
          <a:xfrm>
            <a:off x="6667560" y="5676840"/>
            <a:ext cx="447624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00" b="0" i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Stack read bottom-up: intelligence is rented, the computer, the schedule and the memory are the product.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762120" y="628668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"Always-on" is infrastructure: one rented computer per assistant. Nothing here requires building a model.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PRODUCT ANATOMY · 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xAI Grok Team Bots: coworkers that learn the team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762120" y="1638360"/>
            <a:ext cx="4476240" cy="9140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762120" y="2705040"/>
            <a:ext cx="44762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762120" y="3772080"/>
            <a:ext cx="44762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762120" y="4838760"/>
            <a:ext cx="447624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952560" y="1771560"/>
            <a:ext cx="4190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SHARED TEAM MEMORY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952560" y="2076480"/>
            <a:ext cx="4190760" cy="41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bots learn from your team's conversations and work — the memory belongs to the team, not one user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952560" y="2838600"/>
            <a:ext cx="4190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LIVE CONNECTORS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952560" y="3143160"/>
            <a:ext cx="4190760" cy="41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Slack and CRM apps out of the box — the bot sees what the team sees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952560" y="3905280"/>
            <a:ext cx="4190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GROK 4.7 — MODEL LAYER (SEPT 21)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952560" y="4210200"/>
            <a:ext cx="4190760" cy="41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xAI's most capable coding and knowledge-work model; large context; US-based endpoints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952560" y="4971960"/>
            <a:ext cx="4190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VOICE 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952560" y="5276880"/>
            <a:ext cx="4190760" cy="41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Transcribe 2.0 (Sept 18) turns meetings into context the bots can use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5524560" y="1676520"/>
            <a:ext cx="5905080" cy="40953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8000"/>
              </a:lnSpc>
              <a:spcAft>
                <a:spcPts val="15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Launched September 29, 2026 —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same day OpenAI shipped Dots. Two companies, one conclusion, same week.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8000"/>
              </a:lnSpc>
              <a:spcAft>
                <a:spcPts val="15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Positioning: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"AI coworkers that learn from your team" — shared context beats personal chat for business work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8000"/>
              </a:lnSpc>
              <a:spcAft>
                <a:spcPts val="15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For builders: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Grok Build, xAI's coding agent, shipped updates near-daily through September — session handling, subagents, stability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8000"/>
              </a:lnSpc>
              <a:spcAft>
                <a:spcPts val="15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architecture lesson: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it is the loop from slide 3. The differentiator is not a smarter model — it is accumulated team context.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8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For us: </a:t>
            </a:r>
            <a:r>
              <a:rPr lang="en-US" sz="13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our Postgres already stores task state for every job. The shared-memory layer is an extension of what exists, not a new system.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762120" y="621036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xAI's bet: the value is not IQ, it is context. </a:t>
            </a: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Context we already own.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PRODUCT ANATOMY · 07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762120" y="819000"/>
            <a:ext cx="11239200" cy="599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Three more builders, three engineering patterns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762120" y="1523880"/>
            <a:ext cx="3428640" cy="4190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4381560" y="1523880"/>
            <a:ext cx="3428640" cy="4190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7"/>
          <p:cNvSpPr/>
          <p:nvPr/>
        </p:nvSpPr>
        <p:spPr>
          <a:xfrm>
            <a:off x="8001000" y="1523880"/>
            <a:ext cx="3428640" cy="4190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1028880" y="173340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Manus — now part of Meta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4648320" y="173340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Anthropic — Claude Cowork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8267760" y="1733400"/>
            <a:ext cx="28573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Google — Gemini Enterprise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1"/>
          <p:cNvSpPr/>
          <p:nvPr/>
        </p:nvSpPr>
        <p:spPr>
          <a:xfrm>
            <a:off x="1028880" y="2038320"/>
            <a:ext cx="2857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PATTERN: A SANDBOX PER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4648320" y="2038320"/>
            <a:ext cx="3047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PATTERN: FILES + OPEN CONNECTORS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3"/>
          <p:cNvSpPr/>
          <p:nvPr/>
        </p:nvSpPr>
        <p:spPr>
          <a:xfrm>
            <a:off x="8267760" y="2038320"/>
            <a:ext cx="2857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PATTERN: GOVERNANCE PLANE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4"/>
          <p:cNvSpPr/>
          <p:nvPr/>
        </p:nvSpPr>
        <p:spPr>
          <a:xfrm>
            <a:off x="1028880" y="2381400"/>
            <a:ext cx="2895120" cy="32382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80M+ virtual computers spun up. 147T+ tokens processed.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Every task gets its own isolated cloud machine — nothing touches production by accident. Joined Meta on Dec 29, 2025; a desktop agent app followed in March 2026, and Meta wired Manus into Ads Manager the same year.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5"/>
          <p:cNvSpPr/>
          <p:nvPr/>
        </p:nvSpPr>
        <p:spPr>
          <a:xfrm>
            <a:off x="4648320" y="2381400"/>
            <a:ext cx="2895120" cy="32382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Cowork (Jan 2026): an agent that works directly on your real files, built for non-coders.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Enterprise plugins for finance, engineering and design landed Feb 2026. Its Model Context Protocol (MCP) — an open standard for plugging any tool into any agent — has become the industry's default socket. We can speak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6"/>
          <p:cNvSpPr/>
          <p:nvPr/>
        </p:nvSpPr>
        <p:spPr>
          <a:xfrm>
            <a:off x="8267760" y="2381400"/>
            <a:ext cx="2895120" cy="32382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spcAft>
                <a:spcPts val="1001"/>
              </a:spcAft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Gemini Enterprise Agent Platform (Apr 2026): one admin plane to build, govern and monitor fleets of business agents.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8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signal: the future is not one super-bot but many agents with permissions, monitoring and cost tracking on top. That management layer is exactly what enterprises still buy per-seat today.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7"/>
          <p:cNvSpPr/>
          <p:nvPr/>
        </p:nvSpPr>
        <p:spPr>
          <a:xfrm>
            <a:off x="762120" y="600084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Isolated sandboxes, an open connector standard, a governance console — </a:t>
            </a: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race is about plumbing, not answers.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3"/>
          <p:cNvSpPr/>
          <p:nvPr/>
        </p:nvSpPr>
        <p:spPr>
          <a:xfrm>
            <a:off x="762120" y="1619280"/>
            <a:ext cx="3428640" cy="1676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02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762120" y="3333600"/>
            <a:ext cx="6095520" cy="637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How agents get built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762120" y="4000680"/>
            <a:ext cx="5333760" cy="761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From hand-wired chains today to bots that build bots — the engineering shift underneath every product launch.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7238880" y="1619280"/>
            <a:ext cx="4190760" cy="361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7505640" y="1847880"/>
            <a:ext cx="361908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IN THIS PART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7505640" y="2190600"/>
            <a:ext cx="3657240" cy="285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six layers every agent shares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Today: hand-wired chains, graphs, crews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Tomorrow: bots that build bots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MCP connectors with per-bot permissions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Agents calling agents — the group pattern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UI for a workforce of bots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76212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1047600" y="6058080"/>
            <a:ext cx="132840" cy="132840"/>
          </a:xfrm>
          <a:prstGeom prst="ellipse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133344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161928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1905120" y="6019920"/>
            <a:ext cx="19047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PART 2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TECHNICAL PATTERN · 09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Strip the branding: every agent is these six layers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762120" y="161928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762120" y="234324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762120" y="306720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8"/>
          <p:cNvSpPr/>
          <p:nvPr/>
        </p:nvSpPr>
        <p:spPr>
          <a:xfrm>
            <a:off x="762120" y="379080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762120" y="451476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0"/>
          <p:cNvSpPr/>
          <p:nvPr/>
        </p:nvSpPr>
        <p:spPr>
          <a:xfrm>
            <a:off x="762120" y="5238720"/>
            <a:ext cx="7619760" cy="6091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952560" y="1714680"/>
            <a:ext cx="72385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6 · SURFACE 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where humans meet the agent — chat, email, desktop app, cloud computer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952560" y="2438280"/>
            <a:ext cx="72385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5 · SAFETY PLANE 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permissions, approval gates, spend and step budgets, audit log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3"/>
          <p:cNvSpPr/>
          <p:nvPr/>
        </p:nvSpPr>
        <p:spPr>
          <a:xfrm>
            <a:off x="952560" y="3162240"/>
            <a:ext cx="72385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4 · MEMORY 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task state, learned corrections, team context — the difference from amnesia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4"/>
          <p:cNvSpPr/>
          <p:nvPr/>
        </p:nvSpPr>
        <p:spPr>
          <a:xfrm>
            <a:off x="952560" y="3886200"/>
            <a:ext cx="72385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3 · TOOLS AND CONNECTORS 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APIs, the open MCP standard, browser, files, databases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5"/>
          <p:cNvSpPr/>
          <p:nvPr/>
        </p:nvSpPr>
        <p:spPr>
          <a:xfrm>
            <a:off x="952560" y="4610160"/>
            <a:ext cx="72385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2 · LOOP RUNTIME 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plan, act, observe, repeat — with retries and hard budgets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6"/>
          <p:cNvSpPr/>
          <p:nvPr/>
        </p:nvSpPr>
        <p:spPr>
          <a:xfrm>
            <a:off x="952560" y="5334120"/>
            <a:ext cx="7238520" cy="467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1 · MODEL 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rented by the token — GPT-6.1 Sol, Grok 4.7, Claude, Gemini. Nobody builds this for an agent.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7"/>
          <p:cNvSpPr/>
          <p:nvPr/>
        </p:nvSpPr>
        <p:spPr>
          <a:xfrm>
            <a:off x="8763120" y="1619280"/>
            <a:ext cx="2666520" cy="42289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8"/>
          <p:cNvSpPr/>
          <p:nvPr/>
        </p:nvSpPr>
        <p:spPr>
          <a:xfrm>
            <a:off x="8991720" y="1847880"/>
            <a:ext cx="228564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PUNCHLINE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9"/>
          <p:cNvSpPr/>
          <p:nvPr/>
        </p:nvSpPr>
        <p:spPr>
          <a:xfrm>
            <a:off x="8991720" y="2209680"/>
            <a:ext cx="2209320" cy="4595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Not one of these companies is a model company inside its agent. The product — and the margin — lives in layers 2 through 5.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Those four layers are ordinary software engineering: a loop, a database, API calls, permission checks. No research lab required.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Our prototype already stands on layer 1 — a gateway that speaks to several model vendors. Layers 2–5 are the build.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0"/>
          <p:cNvSpPr/>
          <p:nvPr/>
        </p:nvSpPr>
        <p:spPr>
          <a:xfrm>
            <a:off x="762120" y="6153120"/>
            <a:ext cx="85723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Next: how we build these agents today — by hand — and what is changing underneath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3"/>
          <p:cNvSpPr/>
          <p:nvPr/>
        </p:nvSpPr>
        <p:spPr>
          <a:xfrm>
            <a:off x="762120" y="533520"/>
            <a:ext cx="6667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HOW WE BUILD TODAY ·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Before the bots: today we wire agents by hand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762120" y="1619280"/>
            <a:ext cx="6095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762120" y="2914560"/>
            <a:ext cx="6095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762120" y="4210200"/>
            <a:ext cx="6095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990720" y="1771560"/>
            <a:ext cx="2857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CHAIN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990720" y="3067200"/>
            <a:ext cx="2857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GRAPH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990720" y="4362480"/>
            <a:ext cx="2857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FIXED CREW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990720" y="2324160"/>
            <a:ext cx="563832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One fixed line of steps, each with its tool, ordered by a developer in advance. (LangChain-style)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990720" y="3619440"/>
            <a:ext cx="563832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Steps that branch and loop on results — every branch still drawn in advance. (LangGraph)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990720" y="4915080"/>
            <a:ext cx="563832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pre-defined team of role-agents — researcher, writer, reviewer — with fixed roles and tools. (CrewAI, AutoGen)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990720" y="2038320"/>
            <a:ext cx="5333760" cy="32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Step 1 → Step 2 → Step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990720" y="3333600"/>
            <a:ext cx="5333760" cy="32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Step → yes/no → two branches → loop back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6"/>
          <p:cNvSpPr/>
          <p:nvPr/>
        </p:nvSpPr>
        <p:spPr>
          <a:xfrm>
            <a:off x="990720" y="4629240"/>
            <a:ext cx="5333760" cy="32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Researcher + Writer + Reviewer — defined in config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7"/>
          <p:cNvSpPr/>
          <p:nvPr/>
        </p:nvSpPr>
        <p:spPr>
          <a:xfrm>
            <a:off x="7238880" y="1619280"/>
            <a:ext cx="4190760" cy="373356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8"/>
          <p:cNvSpPr/>
          <p:nvPr/>
        </p:nvSpPr>
        <p:spPr>
          <a:xfrm>
            <a:off x="7467480" y="1828800"/>
            <a:ext cx="361908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WHAT THIS BUYS — AND WHAT IT COSTS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9"/>
          <p:cNvSpPr/>
          <p:nvPr/>
        </p:nvSpPr>
        <p:spPr>
          <a:xfrm>
            <a:off x="7467480" y="2171880"/>
            <a:ext cx="3657240" cy="1238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799"/>
              </a:spcAft>
              <a:buClr>
                <a:srgbClr val="D6E0F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Predictable and auditable — you can trace every step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D6E0F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Small enough to reason about while the field is young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0"/>
          <p:cNvSpPr/>
          <p:nvPr/>
        </p:nvSpPr>
        <p:spPr>
          <a:xfrm>
            <a:off x="7467480" y="3409920"/>
            <a:ext cx="3657240" cy="1904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Every new task is new wiring — a development project, not a request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The engineering team is the bottleneck between an idea and an automation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Brittle: when reality changes mid-task, the drawn path runs out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1"/>
          <p:cNvSpPr/>
          <p:nvPr/>
        </p:nvSpPr>
        <p:spPr>
          <a:xfrm>
            <a:off x="762120" y="582948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This is what "building an agent" means in most companies today — including ours. The next slide shows what is changing underneath it.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3"/>
          <p:cNvSpPr/>
          <p:nvPr/>
        </p:nvSpPr>
        <p:spPr>
          <a:xfrm>
            <a:off x="762120" y="533520"/>
            <a:ext cx="6667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HOW WE BUILD · 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shift: bots that build bots, tools chosen live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762120" y="1619280"/>
            <a:ext cx="6095520" cy="131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762120" y="3086280"/>
            <a:ext cx="6095520" cy="131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762120" y="4552920"/>
            <a:ext cx="6095520" cy="131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990720" y="1790640"/>
            <a:ext cx="5333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1 · DYNAMIC TOOL CHOICE + HANDOFFS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9"/>
          <p:cNvSpPr/>
          <p:nvPr/>
        </p:nvSpPr>
        <p:spPr>
          <a:xfrm>
            <a:off x="990720" y="2095560"/>
            <a:ext cx="5638320" cy="8568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agent picks which tool to use at each moment — the toolbox is offered, not pre-wired. It can also hand the whole task mid-run to a specialist agent. (OpenAI Agents SDK handoffs)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990720" y="3257640"/>
            <a:ext cx="5333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2 · BOTS CREATING BOTS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990720" y="3562200"/>
            <a:ext cx="5638320" cy="8568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An agent spawns fresh sub-agents for subtasks — writes them their instructions, grants them a tool set, collects the result, retires them. (Claude Code subagents; Manus spinning an isolated sandbox per task)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990720" y="4724280"/>
            <a:ext cx="5333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3 · SELF-ORGANIZING TEAMS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3"/>
          <p:cNvSpPr/>
          <p:nvPr/>
        </p:nvSpPr>
        <p:spPr>
          <a:xfrm>
            <a:off x="990720" y="5029200"/>
            <a:ext cx="5638320" cy="8568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Agents work in a shared thread; who acts next is decided in the moment — by the model or a selector. The org chart becomes a prompt, not a config file. (AutoGen group chat)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7238880" y="1619280"/>
            <a:ext cx="4190760" cy="424764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7467480" y="1828800"/>
            <a:ext cx="3657240" cy="396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WHAT STAYS FIXED — AND WHY THAT'S GOOD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6"/>
          <p:cNvSpPr/>
          <p:nvPr/>
        </p:nvSpPr>
        <p:spPr>
          <a:xfrm>
            <a:off x="7467480" y="2209680"/>
            <a:ext cx="3657240" cy="31428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2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Policies: which tools each bot may touch, its budgets, its approval gates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0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Who may talk to whom, and which outputs need a human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400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The audit plane still sees every step — dynamic does not mean untracked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egoe UI"/>
                <a:ea typeface="Segoe UI"/>
              </a:rPr>
              <a:t>For leadership, the practical difference: a new workflow stops being a development project and starts being a request — with permissions deciding what it may touch.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7"/>
          <p:cNvSpPr/>
          <p:nvPr/>
        </p:nvSpPr>
        <p:spPr>
          <a:xfrm>
            <a:off x="762120" y="605808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None of this works without one thing done first: a standard way for any tool to plug into any agent.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3"/>
          <p:cNvSpPr/>
          <p:nvPr/>
        </p:nvSpPr>
        <p:spPr>
          <a:xfrm>
            <a:off x="762120" y="533520"/>
            <a:ext cx="6667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HOW WE BUILD · 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MCP: plug any tool into any agent — then scope 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762120" y="1409760"/>
            <a:ext cx="5524200" cy="6854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Model Context Protocol: an open standard, now industry default — a USB-C socket for agent tools. A connector written once plugs into any compliant agent, with no bespoke integration code per pair.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952560" y="215280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2809800" y="215280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4667400" y="215280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952560" y="226692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Email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2809800" y="226692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CRM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4667400" y="226692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Browser / web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1523880" y="262908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3381480" y="262908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5238720" y="262908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762120" y="2952720"/>
            <a:ext cx="5143320" cy="68544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6"/>
          <p:cNvSpPr/>
          <p:nvPr/>
        </p:nvSpPr>
        <p:spPr>
          <a:xfrm>
            <a:off x="762120" y="3086280"/>
            <a:ext cx="51433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MCP CONNECTOR LAYER — one socket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7"/>
          <p:cNvSpPr/>
          <p:nvPr/>
        </p:nvSpPr>
        <p:spPr>
          <a:xfrm>
            <a:off x="762120" y="3333600"/>
            <a:ext cx="5143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every agent below can reach every tool above — if its policy says so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1523880" y="371484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3381480" y="371484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5238720" y="3714840"/>
            <a:ext cx="285480" cy="247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952560" y="403848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2"/>
          <p:cNvSpPr/>
          <p:nvPr/>
        </p:nvSpPr>
        <p:spPr>
          <a:xfrm>
            <a:off x="2809800" y="403848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4667400" y="4038480"/>
            <a:ext cx="1428480" cy="418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4"/>
          <p:cNvSpPr/>
          <p:nvPr/>
        </p:nvSpPr>
        <p:spPr>
          <a:xfrm>
            <a:off x="952560" y="415296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Marketing bot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5"/>
          <p:cNvSpPr/>
          <p:nvPr/>
        </p:nvSpPr>
        <p:spPr>
          <a:xfrm>
            <a:off x="2809800" y="415296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Dev bot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6"/>
          <p:cNvSpPr/>
          <p:nvPr/>
        </p:nvSpPr>
        <p:spPr>
          <a:xfrm>
            <a:off x="4667400" y="4152960"/>
            <a:ext cx="1428480" cy="209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en-US" sz="11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Finance bot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7"/>
          <p:cNvSpPr/>
          <p:nvPr/>
        </p:nvSpPr>
        <p:spPr>
          <a:xfrm>
            <a:off x="762120" y="4724280"/>
            <a:ext cx="5333760" cy="475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00" b="0" i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One connector library serves every bot. No bespoke wiring per agent — the sockets are standard.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8"/>
          <p:cNvSpPr/>
          <p:nvPr/>
        </p:nvSpPr>
        <p:spPr>
          <a:xfrm>
            <a:off x="6858000" y="1409760"/>
            <a:ext cx="4571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SAME SOCKET, DIFFERENT PERMISSIONS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9"/>
          <p:cNvSpPr/>
          <p:nvPr/>
        </p:nvSpPr>
        <p:spPr>
          <a:xfrm>
            <a:off x="6858000" y="1733400"/>
            <a:ext cx="45716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0"/>
          <p:cNvSpPr/>
          <p:nvPr/>
        </p:nvSpPr>
        <p:spPr>
          <a:xfrm>
            <a:off x="6858000" y="2724120"/>
            <a:ext cx="45716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1"/>
          <p:cNvSpPr/>
          <p:nvPr/>
        </p:nvSpPr>
        <p:spPr>
          <a:xfrm>
            <a:off x="6858000" y="3714840"/>
            <a:ext cx="45716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2"/>
          <p:cNvSpPr/>
          <p:nvPr/>
        </p:nvSpPr>
        <p:spPr>
          <a:xfrm>
            <a:off x="6858000" y="4705200"/>
            <a:ext cx="45716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3"/>
          <p:cNvSpPr/>
          <p:nvPr/>
        </p:nvSpPr>
        <p:spPr>
          <a:xfrm>
            <a:off x="7086600" y="1847880"/>
            <a:ext cx="40953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Marketing bot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4"/>
          <p:cNvSpPr/>
          <p:nvPr/>
        </p:nvSpPr>
        <p:spPr>
          <a:xfrm>
            <a:off x="7086600" y="2114640"/>
            <a:ext cx="411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may use brand files, web search, the scheduler. Never the database; never send email.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35"/>
          <p:cNvSpPr/>
          <p:nvPr/>
        </p:nvSpPr>
        <p:spPr>
          <a:xfrm>
            <a:off x="7086600" y="2838600"/>
            <a:ext cx="40953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Developer bot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36"/>
          <p:cNvSpPr/>
          <p:nvPr/>
        </p:nvSpPr>
        <p:spPr>
          <a:xfrm>
            <a:off x="7086600" y="3105000"/>
            <a:ext cx="411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may use the code repo, CI, a test sandbox. Never the CRM, never client email.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7"/>
          <p:cNvSpPr/>
          <p:nvPr/>
        </p:nvSpPr>
        <p:spPr>
          <a:xfrm>
            <a:off x="7086600" y="3828960"/>
            <a:ext cx="40953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Research bot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8"/>
          <p:cNvSpPr/>
          <p:nvPr/>
        </p:nvSpPr>
        <p:spPr>
          <a:xfrm>
            <a:off x="7086600" y="4095720"/>
            <a:ext cx="411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web and files, read-only everywhere. No write access to anything, anywhere.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9"/>
          <p:cNvSpPr/>
          <p:nvPr/>
        </p:nvSpPr>
        <p:spPr>
          <a:xfrm>
            <a:off x="7086600" y="4819680"/>
            <a:ext cx="40953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Finance bot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40"/>
          <p:cNvSpPr/>
          <p:nvPr/>
        </p:nvSpPr>
        <p:spPr>
          <a:xfrm>
            <a:off x="7086600" y="5086440"/>
            <a:ext cx="411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1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reads the ledger freely; any payment action waits for a human approval.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41"/>
          <p:cNvSpPr/>
          <p:nvPr/>
        </p:nvSpPr>
        <p:spPr>
          <a:xfrm>
            <a:off x="762120" y="6000840"/>
            <a:ext cx="1066752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Restriction is policy, not plumbing — the safety plane from slide 9 enforces each bot's allow-list.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Box 3"/>
          <p:cNvSpPr/>
          <p:nvPr/>
        </p:nvSpPr>
        <p:spPr>
          <a:xfrm>
            <a:off x="762120" y="533520"/>
            <a:ext cx="6667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HOW WE BUILD · 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Agents calling agents: the marketing-company example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"/>
          <p:cNvSpPr/>
          <p:nvPr/>
        </p:nvSpPr>
        <p:spPr>
          <a:xfrm>
            <a:off x="762120" y="158112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6"/>
          <p:cNvSpPr/>
          <p:nvPr/>
        </p:nvSpPr>
        <p:spPr>
          <a:xfrm>
            <a:off x="762120" y="232416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"/>
          <p:cNvSpPr/>
          <p:nvPr/>
        </p:nvSpPr>
        <p:spPr>
          <a:xfrm>
            <a:off x="762120" y="306720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8"/>
          <p:cNvSpPr/>
          <p:nvPr/>
        </p:nvSpPr>
        <p:spPr>
          <a:xfrm>
            <a:off x="762120" y="380988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762120" y="455292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0"/>
          <p:cNvSpPr/>
          <p:nvPr/>
        </p:nvSpPr>
        <p:spPr>
          <a:xfrm>
            <a:off x="762120" y="5295960"/>
            <a:ext cx="6286320" cy="62820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990720" y="1695600"/>
            <a:ext cx="5829120" cy="437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1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CEO-bot receives the brief: a launch plan for client X.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990720" y="2438280"/>
            <a:ext cx="5829120" cy="46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2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It creates a group, adds Branding-bot and Research-bot, posts the brief — every member sees the whole thread.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3"/>
          <p:cNvSpPr/>
          <p:nvPr/>
        </p:nvSpPr>
        <p:spPr>
          <a:xfrm>
            <a:off x="990720" y="3181320"/>
            <a:ext cx="5829120" cy="46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3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Assigns inside the thread: @branding takes positioning, @research takes the competitor scan — or the group decides who picks up what.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990720" y="3924360"/>
            <a:ext cx="5829120" cy="46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4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Research posts angles mid-thread; Branding uses them at once — handoffs happen inside the conversation, no manager code between them.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990720" y="4667400"/>
            <a:ext cx="5829120" cy="46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5 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Outputs roll up to CEO-bot; a human approves before anything leaves the group — the checkpoint stays ours.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990720" y="5410080"/>
            <a:ext cx="5829120" cy="465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7FA8FF"/>
                </a:solidFill>
                <a:effectLst/>
                <a:uFillTx/>
                <a:latin typeface="Segoe UI"/>
                <a:ea typeface="Segoe UI"/>
              </a:rPr>
              <a:t>6 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CEO-bot opens round two: @dev-bot and @design-bot build the landing page. Peers can also ping each other directly — no routing through the boss.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7429680" y="1581120"/>
            <a:ext cx="4000320" cy="434304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8"/>
          <p:cNvSpPr/>
          <p:nvPr/>
        </p:nvSpPr>
        <p:spPr>
          <a:xfrm>
            <a:off x="7658280" y="1790640"/>
            <a:ext cx="3543120" cy="396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THIS IS NOT FICTION — NAMED PRECEDENTS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7658280" y="2228760"/>
            <a:ext cx="3543120" cy="4047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2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MetaGPT </a:t>
            </a:r>
            <a:r>
              <a:rPr lang="en-US" sz="12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runs a whole simulated software company — PM, architect and engineer agents passing documents down the chain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AutoGen </a:t>
            </a:r>
            <a:r>
              <a:rPr lang="en-US" sz="12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pioneered the group-chat pattern: several agents in one thread, a selector decides who acts next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1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Google's Agent2Agent (A2A) </a:t>
            </a:r>
            <a:r>
              <a:rPr lang="en-US" sz="12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— an open protocol for one agent to call another, even across different vendors' stacks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599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Grok Team Bots </a:t>
            </a:r>
            <a:r>
              <a:rPr lang="en-US" sz="12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is this shape sold as a product: bots in your team's channels, sharing one memory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pattern is standard. The open question is who wraps it around their own business — that is the pilot.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762120" y="6153120"/>
            <a:ext cx="10667520" cy="490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One rule keeps it employable: every group runs on a budget, every outbound action crosses a human checkpoint, every thread is auditable.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3"/>
          <p:cNvSpPr/>
          <p:nvPr/>
        </p:nvSpPr>
        <p:spPr>
          <a:xfrm>
            <a:off x="762120" y="533520"/>
            <a:ext cx="6667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HOW WE BUILD · 14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UI for running a workforce of bots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"/>
          <p:cNvSpPr/>
          <p:nvPr/>
        </p:nvSpPr>
        <p:spPr>
          <a:xfrm>
            <a:off x="762120" y="158112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6"/>
          <p:cNvSpPr/>
          <p:nvPr/>
        </p:nvSpPr>
        <p:spPr>
          <a:xfrm>
            <a:off x="4381560" y="158112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"/>
          <p:cNvSpPr/>
          <p:nvPr/>
        </p:nvSpPr>
        <p:spPr>
          <a:xfrm>
            <a:off x="8001000" y="158112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8"/>
          <p:cNvSpPr/>
          <p:nvPr/>
        </p:nvSpPr>
        <p:spPr>
          <a:xfrm>
            <a:off x="762120" y="35434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9"/>
          <p:cNvSpPr/>
          <p:nvPr/>
        </p:nvSpPr>
        <p:spPr>
          <a:xfrm>
            <a:off x="4381560" y="35434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8001000" y="3543480"/>
            <a:ext cx="3428640" cy="180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1"/>
          <p:cNvSpPr/>
          <p:nvPr/>
        </p:nvSpPr>
        <p:spPr>
          <a:xfrm>
            <a:off x="1028880" y="177156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Group channels, humans included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2"/>
          <p:cNvSpPr/>
          <p:nvPr/>
        </p:nvSpPr>
        <p:spPr>
          <a:xfrm>
            <a:off x="1028880" y="224784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One thread per task where people and agents sit side by side — a project channel whose members happen to include bots.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3"/>
          <p:cNvSpPr/>
          <p:nvPr/>
        </p:nvSpPr>
        <p:spPr>
          <a:xfrm>
            <a:off x="4648320" y="177156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Mentions are assignments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4"/>
          <p:cNvSpPr/>
          <p:nvPr/>
        </p:nvSpPr>
        <p:spPr>
          <a:xfrm>
            <a:off x="4648320" y="224784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"@research-bot: summarize competitor X" — the entire act of delegation. No code, no ticket form, no queue.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5"/>
          <p:cNvSpPr/>
          <p:nvPr/>
        </p:nvSpPr>
        <p:spPr>
          <a:xfrm>
            <a:off x="8267760" y="177156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Live member status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6"/>
          <p:cNvSpPr/>
          <p:nvPr/>
        </p:nvSpPr>
        <p:spPr>
          <a:xfrm>
            <a:off x="8267760" y="224784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Thinking, acting, or waiting for approval — the board shows who is moving what at this second.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7"/>
          <p:cNvSpPr/>
          <p:nvPr/>
        </p:nvSpPr>
        <p:spPr>
          <a:xfrm>
            <a:off x="1028880" y="373392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Inline approval cards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8"/>
          <p:cNvSpPr/>
          <p:nvPr/>
        </p:nvSpPr>
        <p:spPr>
          <a:xfrm>
            <a:off x="1028880" y="421020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When a bot needs a green light, a human sees the draft, the diff and the cost — and approves or rejects in one click.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19"/>
          <p:cNvSpPr/>
          <p:nvPr/>
        </p:nvSpPr>
        <p:spPr>
          <a:xfrm>
            <a:off x="4648320" y="373392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Per-thread meters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0"/>
          <p:cNvSpPr/>
          <p:nvPr/>
        </p:nvSpPr>
        <p:spPr>
          <a:xfrm>
            <a:off x="4648320" y="421020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Tokens, dollars and minutes visible on every thread — spend becomes a dial you watch, not a bill you discover.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21"/>
          <p:cNvSpPr/>
          <p:nvPr/>
        </p:nvSpPr>
        <p:spPr>
          <a:xfrm>
            <a:off x="8267760" y="3733920"/>
            <a:ext cx="289512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2000"/>
              </a:lnSpc>
            </a:pPr>
            <a:r>
              <a:rPr lang="en-US" sz="14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An audit you can actually read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2"/>
          <p:cNvSpPr/>
          <p:nvPr/>
        </p:nvSpPr>
        <p:spPr>
          <a:xfrm>
            <a:off x="8267760" y="4210200"/>
            <a:ext cx="28951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Every action logged against the bot, the tool it used and the policy that allowed it — client questions get answers, not shrugs.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23"/>
          <p:cNvSpPr/>
          <p:nvPr/>
        </p:nvSpPr>
        <p:spPr>
          <a:xfrm>
            <a:off x="762120" y="5715000"/>
            <a:ext cx="10667520" cy="5032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8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None of this invents a new kind of software: it is chat + a task board + an approval inbox. </a:t>
            </a: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Our prototype is already the task board half of that sentence.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3"/>
          <p:cNvSpPr/>
          <p:nvPr/>
        </p:nvSpPr>
        <p:spPr>
          <a:xfrm>
            <a:off x="762120" y="1619280"/>
            <a:ext cx="3428640" cy="1676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03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4"/>
          <p:cNvSpPr/>
          <p:nvPr/>
        </p:nvSpPr>
        <p:spPr>
          <a:xfrm>
            <a:off x="762120" y="3333600"/>
            <a:ext cx="5714640" cy="603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Where we stand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762120" y="4000680"/>
            <a:ext cx="5333760" cy="761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Our work today, our running prototype, and an honest line between what is proven and what is proposed.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7238880" y="1619280"/>
            <a:ext cx="4190760" cy="361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7"/>
          <p:cNvSpPr/>
          <p:nvPr/>
        </p:nvSpPr>
        <p:spPr>
          <a:xfrm>
            <a:off x="7505640" y="1847880"/>
            <a:ext cx="361908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IN THIS PART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8"/>
          <p:cNvSpPr/>
          <p:nvPr/>
        </p:nvSpPr>
        <p:spPr>
          <a:xfrm>
            <a:off x="7505640" y="2190600"/>
            <a:ext cx="3657240" cy="1904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 normal week today vs the same week with an agent in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Our prototype, in one diagram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it proves — and what it honestly does not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76212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104760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"/>
          <p:cNvSpPr/>
          <p:nvPr/>
        </p:nvSpPr>
        <p:spPr>
          <a:xfrm>
            <a:off x="1333440" y="6058080"/>
            <a:ext cx="132840" cy="132840"/>
          </a:xfrm>
          <a:prstGeom prst="ellipse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161928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3"/>
          <p:cNvSpPr/>
          <p:nvPr/>
        </p:nvSpPr>
        <p:spPr>
          <a:xfrm>
            <a:off x="1905120" y="6019920"/>
            <a:ext cx="19047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PART 3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OUR WORK · 16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762120" y="819000"/>
            <a:ext cx="952452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we do today vs what we would do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762120" y="1447920"/>
            <a:ext cx="7619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TODAY — A WEEKLY CLIENT REPORT (ILLUSTRATIVE WORKFLOW)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"/>
          <p:cNvSpPr/>
          <p:nvPr/>
        </p:nvSpPr>
        <p:spPr>
          <a:xfrm>
            <a:off x="762120" y="175248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"/>
          <p:cNvSpPr/>
          <p:nvPr/>
        </p:nvSpPr>
        <p:spPr>
          <a:xfrm>
            <a:off x="2857680" y="175248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4952880" y="175248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7048440" y="175248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9144000" y="175248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2610000" y="207648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"/>
          <p:cNvSpPr/>
          <p:nvPr/>
        </p:nvSpPr>
        <p:spPr>
          <a:xfrm>
            <a:off x="4705200" y="207648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3"/>
          <p:cNvSpPr/>
          <p:nvPr/>
        </p:nvSpPr>
        <p:spPr>
          <a:xfrm>
            <a:off x="6800760" y="207648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8896320" y="207648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876240" y="184788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Pull the 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6"/>
          <p:cNvSpPr/>
          <p:nvPr/>
        </p:nvSpPr>
        <p:spPr>
          <a:xfrm>
            <a:off x="876240" y="211464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manual exports from three systems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2971800" y="184788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Make sense of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18"/>
          <p:cNvSpPr/>
          <p:nvPr/>
        </p:nvSpPr>
        <p:spPr>
          <a:xfrm>
            <a:off x="2971800" y="211464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spreadsheets, eyeballing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5067360" y="184788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Write the draft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0"/>
          <p:cNvSpPr/>
          <p:nvPr/>
        </p:nvSpPr>
        <p:spPr>
          <a:xfrm>
            <a:off x="5067360" y="211464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blank page every Monday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7162920" y="184788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Format and check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2"/>
          <p:cNvSpPr/>
          <p:nvPr/>
        </p:nvSpPr>
        <p:spPr>
          <a:xfrm>
            <a:off x="7162920" y="211464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copy-paste into the template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9258480" y="184788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Send and chase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4"/>
          <p:cNvSpPr/>
          <p:nvPr/>
        </p:nvSpPr>
        <p:spPr>
          <a:xfrm>
            <a:off x="9258480" y="211464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email, reminders, sign-off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5"/>
          <p:cNvSpPr/>
          <p:nvPr/>
        </p:nvSpPr>
        <p:spPr>
          <a:xfrm>
            <a:off x="762120" y="2629080"/>
            <a:ext cx="85723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0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≈ 6 person-hours every week — every one of the five steps executed by a human hand.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6"/>
          <p:cNvSpPr/>
          <p:nvPr/>
        </p:nvSpPr>
        <p:spPr>
          <a:xfrm>
            <a:off x="762120" y="3333600"/>
            <a:ext cx="761976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SAME WEEK WITH AN AGENT IN 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7"/>
          <p:cNvSpPr/>
          <p:nvPr/>
        </p:nvSpPr>
        <p:spPr>
          <a:xfrm>
            <a:off x="762120" y="363852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28"/>
          <p:cNvSpPr/>
          <p:nvPr/>
        </p:nvSpPr>
        <p:spPr>
          <a:xfrm>
            <a:off x="2857680" y="363852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9"/>
          <p:cNvSpPr/>
          <p:nvPr/>
        </p:nvSpPr>
        <p:spPr>
          <a:xfrm>
            <a:off x="4952880" y="363852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0"/>
          <p:cNvSpPr/>
          <p:nvPr/>
        </p:nvSpPr>
        <p:spPr>
          <a:xfrm>
            <a:off x="7048440" y="363852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1"/>
          <p:cNvSpPr/>
          <p:nvPr/>
        </p:nvSpPr>
        <p:spPr>
          <a:xfrm>
            <a:off x="9144000" y="3638520"/>
            <a:ext cx="1809360" cy="79992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2"/>
          <p:cNvSpPr/>
          <p:nvPr/>
        </p:nvSpPr>
        <p:spPr>
          <a:xfrm>
            <a:off x="2610000" y="396252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3"/>
          <p:cNvSpPr/>
          <p:nvPr/>
        </p:nvSpPr>
        <p:spPr>
          <a:xfrm>
            <a:off x="4705200" y="396252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34"/>
          <p:cNvSpPr/>
          <p:nvPr/>
        </p:nvSpPr>
        <p:spPr>
          <a:xfrm>
            <a:off x="6800760" y="396252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5"/>
          <p:cNvSpPr/>
          <p:nvPr/>
        </p:nvSpPr>
        <p:spPr>
          <a:xfrm>
            <a:off x="8896320" y="3962520"/>
            <a:ext cx="24732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36"/>
          <p:cNvSpPr/>
          <p:nvPr/>
        </p:nvSpPr>
        <p:spPr>
          <a:xfrm>
            <a:off x="876240" y="373392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Define the outcome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37"/>
          <p:cNvSpPr/>
          <p:nvPr/>
        </p:nvSpPr>
        <p:spPr>
          <a:xfrm>
            <a:off x="876240" y="400068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HUMAN: audience, question, deadline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8"/>
          <p:cNvSpPr/>
          <p:nvPr/>
        </p:nvSpPr>
        <p:spPr>
          <a:xfrm>
            <a:off x="2971800" y="373392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Agent gathers 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39"/>
          <p:cNvSpPr/>
          <p:nvPr/>
        </p:nvSpPr>
        <p:spPr>
          <a:xfrm>
            <a:off x="2971800" y="400068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connectors read the same three sources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40"/>
          <p:cNvSpPr/>
          <p:nvPr/>
        </p:nvSpPr>
        <p:spPr>
          <a:xfrm>
            <a:off x="5067360" y="373392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Agent drafts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41"/>
          <p:cNvSpPr/>
          <p:nvPr/>
        </p:nvSpPr>
        <p:spPr>
          <a:xfrm>
            <a:off x="5067360" y="400068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numbers and narrative in one pass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42"/>
          <p:cNvSpPr/>
          <p:nvPr/>
        </p:nvSpPr>
        <p:spPr>
          <a:xfrm>
            <a:off x="7162920" y="373392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Human review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43"/>
          <p:cNvSpPr/>
          <p:nvPr/>
        </p:nvSpPr>
        <p:spPr>
          <a:xfrm>
            <a:off x="7162920" y="400068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CHECKPOINT 1: content decisions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44"/>
          <p:cNvSpPr/>
          <p:nvPr/>
        </p:nvSpPr>
        <p:spPr>
          <a:xfrm>
            <a:off x="9258480" y="3733920"/>
            <a:ext cx="161892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Send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45"/>
          <p:cNvSpPr/>
          <p:nvPr/>
        </p:nvSpPr>
        <p:spPr>
          <a:xfrm>
            <a:off x="9258480" y="4000680"/>
            <a:ext cx="1580760" cy="3805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CHECKPOINT 2: nothing leaves unapproved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46"/>
          <p:cNvSpPr/>
          <p:nvPr/>
        </p:nvSpPr>
        <p:spPr>
          <a:xfrm>
            <a:off x="762120" y="4552920"/>
            <a:ext cx="9524520" cy="4021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≈ 15–20 minutes of human time. Blue boxes are the steps that stay with people — judgment and approval. </a:t>
            </a:r>
            <a:r>
              <a:rPr lang="en-US" sz="1200" b="0" i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Hours are illustrative; the real workflow and its numbers get picked together with you.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47"/>
          <p:cNvSpPr/>
          <p:nvPr/>
        </p:nvSpPr>
        <p:spPr>
          <a:xfrm>
            <a:off x="762120" y="5334120"/>
            <a:ext cx="1047708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Notice what did not change: the human decisions. An agent does not remove judgment — it executes everything between the judgments. That is where hours were going.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48"/>
          <p:cNvSpPr/>
          <p:nvPr/>
        </p:nvSpPr>
        <p:spPr>
          <a:xfrm>
            <a:off x="762120" y="6039000"/>
            <a:ext cx="10667520" cy="342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5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Our job in this deck: turn one of these weeks into a measured pilot.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OUR STACK · 17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we already have — the prototype, in one diagram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5"/>
          <p:cNvSpPr/>
          <p:nvPr/>
        </p:nvSpPr>
        <p:spPr>
          <a:xfrm>
            <a:off x="762120" y="1905120"/>
            <a:ext cx="17618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6"/>
          <p:cNvSpPr/>
          <p:nvPr/>
        </p:nvSpPr>
        <p:spPr>
          <a:xfrm>
            <a:off x="2828880" y="1905120"/>
            <a:ext cx="17618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"/>
          <p:cNvSpPr/>
          <p:nvPr/>
        </p:nvSpPr>
        <p:spPr>
          <a:xfrm>
            <a:off x="4896000" y="1905120"/>
            <a:ext cx="1761840" cy="87588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8"/>
          <p:cNvSpPr/>
          <p:nvPr/>
        </p:nvSpPr>
        <p:spPr>
          <a:xfrm>
            <a:off x="6962760" y="1905120"/>
            <a:ext cx="1761840" cy="875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9"/>
          <p:cNvSpPr/>
          <p:nvPr/>
        </p:nvSpPr>
        <p:spPr>
          <a:xfrm>
            <a:off x="2552760" y="2266920"/>
            <a:ext cx="26640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4619520" y="2266920"/>
            <a:ext cx="26640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1"/>
          <p:cNvSpPr/>
          <p:nvPr/>
        </p:nvSpPr>
        <p:spPr>
          <a:xfrm>
            <a:off x="6686640" y="2266920"/>
            <a:ext cx="26640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2"/>
          <p:cNvSpPr/>
          <p:nvPr/>
        </p:nvSpPr>
        <p:spPr>
          <a:xfrm>
            <a:off x="895320" y="2019240"/>
            <a:ext cx="1523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Board 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3"/>
          <p:cNvSpPr/>
          <p:nvPr/>
        </p:nvSpPr>
        <p:spPr>
          <a:xfrm>
            <a:off x="895320" y="2305080"/>
            <a:ext cx="150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Next.js web app: tasks move across columns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4"/>
          <p:cNvSpPr/>
          <p:nvPr/>
        </p:nvSpPr>
        <p:spPr>
          <a:xfrm>
            <a:off x="2962440" y="2019240"/>
            <a:ext cx="1523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API layer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5"/>
          <p:cNvSpPr/>
          <p:nvPr/>
        </p:nvSpPr>
        <p:spPr>
          <a:xfrm>
            <a:off x="2962440" y="2305080"/>
            <a:ext cx="150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one endpoint runs the whole board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6"/>
          <p:cNvSpPr/>
          <p:nvPr/>
        </p:nvSpPr>
        <p:spPr>
          <a:xfrm>
            <a:off x="5029200" y="2019240"/>
            <a:ext cx="1523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Model gateway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7"/>
          <p:cNvSpPr/>
          <p:nvPr/>
        </p:nvSpPr>
        <p:spPr>
          <a:xfrm>
            <a:off x="5029200" y="2305080"/>
            <a:ext cx="150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D6E8FF"/>
                </a:solidFill>
                <a:effectLst/>
                <a:uFillTx/>
                <a:latin typeface="Segoe UI"/>
                <a:ea typeface="Segoe UI"/>
              </a:rPr>
              <a:t>routes each job to a chosen AI vendor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8"/>
          <p:cNvSpPr/>
          <p:nvPr/>
        </p:nvSpPr>
        <p:spPr>
          <a:xfrm>
            <a:off x="7095960" y="2019240"/>
            <a:ext cx="1523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Database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9"/>
          <p:cNvSpPr/>
          <p:nvPr/>
        </p:nvSpPr>
        <p:spPr>
          <a:xfrm>
            <a:off x="7095960" y="2305080"/>
            <a:ext cx="1504440" cy="4186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0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PostgreSQL via Drizzle: task state, step by step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0"/>
          <p:cNvSpPr/>
          <p:nvPr/>
        </p:nvSpPr>
        <p:spPr>
          <a:xfrm>
            <a:off x="4381560" y="3067200"/>
            <a:ext cx="818640" cy="323640"/>
          </a:xfrm>
          <a:prstGeom prst="roundRect">
            <a:avLst>
              <a:gd name="adj" fmla="val 16667"/>
            </a:avLst>
          </a:prstGeom>
          <a:solidFill>
            <a:srgbClr val="C6D6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21"/>
          <p:cNvSpPr/>
          <p:nvPr/>
        </p:nvSpPr>
        <p:spPr>
          <a:xfrm>
            <a:off x="5295960" y="3067200"/>
            <a:ext cx="818640" cy="323640"/>
          </a:xfrm>
          <a:prstGeom prst="roundRect">
            <a:avLst>
              <a:gd name="adj" fmla="val 16667"/>
            </a:avLst>
          </a:prstGeom>
          <a:solidFill>
            <a:srgbClr val="C6D6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2"/>
          <p:cNvSpPr/>
          <p:nvPr/>
        </p:nvSpPr>
        <p:spPr>
          <a:xfrm>
            <a:off x="6210360" y="3067200"/>
            <a:ext cx="818640" cy="323640"/>
          </a:xfrm>
          <a:prstGeom prst="roundRect">
            <a:avLst>
              <a:gd name="adj" fmla="val 16667"/>
            </a:avLst>
          </a:prstGeom>
          <a:solidFill>
            <a:srgbClr val="C6D6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3"/>
          <p:cNvSpPr/>
          <p:nvPr/>
        </p:nvSpPr>
        <p:spPr>
          <a:xfrm>
            <a:off x="4381560" y="3162240"/>
            <a:ext cx="81864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5000"/>
              </a:lnSpc>
            </a:pPr>
            <a:r>
              <a:rPr lang="en-US" sz="11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Grok 4.7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4"/>
          <p:cNvSpPr/>
          <p:nvPr/>
        </p:nvSpPr>
        <p:spPr>
          <a:xfrm>
            <a:off x="5295960" y="3162240"/>
            <a:ext cx="81864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5000"/>
              </a:lnSpc>
            </a:pPr>
            <a:r>
              <a:rPr lang="en-US" sz="11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OpenAI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5"/>
          <p:cNvSpPr/>
          <p:nvPr/>
        </p:nvSpPr>
        <p:spPr>
          <a:xfrm>
            <a:off x="6210360" y="3162240"/>
            <a:ext cx="818640" cy="351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5000"/>
              </a:lnSpc>
            </a:pPr>
            <a:r>
              <a:rPr lang="en-US" sz="11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+ any vendor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6"/>
          <p:cNvSpPr/>
          <p:nvPr/>
        </p:nvSpPr>
        <p:spPr>
          <a:xfrm>
            <a:off x="762120" y="3067200"/>
            <a:ext cx="3428640" cy="780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Adding a model vendor is one configuration line — no code change in the app or the board. The gateway was built env-driven on purpose.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7"/>
          <p:cNvSpPr/>
          <p:nvPr/>
        </p:nvSpPr>
        <p:spPr>
          <a:xfrm>
            <a:off x="8953560" y="1619280"/>
            <a:ext cx="2857320" cy="285732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8"/>
          <p:cNvSpPr/>
          <p:nvPr/>
        </p:nvSpPr>
        <p:spPr>
          <a:xfrm>
            <a:off x="9182160" y="1828800"/>
            <a:ext cx="247608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WHAT IT PROVES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29"/>
          <p:cNvSpPr/>
          <p:nvPr/>
        </p:nvSpPr>
        <p:spPr>
          <a:xfrm>
            <a:off x="9182160" y="2171880"/>
            <a:ext cx="2400120" cy="2396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2000"/>
              </a:lnSpc>
              <a:spcAft>
                <a:spcPts val="11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Layer 1, model access: real, running code — several vendors from one gateway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spcAft>
                <a:spcPts val="1199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Layer 4, memory: task state for multi-step jobs is already modelled in the database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2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Layer 6, surface: a working web board over AI jobs — the thing people actually look at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0"/>
          <p:cNvSpPr/>
          <p:nvPr/>
        </p:nvSpPr>
        <p:spPr>
          <a:xfrm>
            <a:off x="762120" y="4095720"/>
            <a:ext cx="8000640" cy="123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31"/>
          <p:cNvSpPr/>
          <p:nvPr/>
        </p:nvSpPr>
        <p:spPr>
          <a:xfrm>
            <a:off x="990720" y="4286160"/>
            <a:ext cx="7524360" cy="10728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spcAft>
                <a:spcPts val="799"/>
              </a:spcAft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Say this plainly: </a:t>
            </a: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it is a proof of concept on a demo workspace with a simple cookie login — not production software, not connected to client data, and not yet an agent. Its job is to prove the layers exist and run; the pilot would make them real.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200" b="0" i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Verified the same way any feature is here: type checks, tests, production build, health check.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32"/>
          <p:cNvSpPr/>
          <p:nvPr/>
        </p:nvSpPr>
        <p:spPr>
          <a:xfrm>
            <a:off x="762120" y="5715000"/>
            <a:ext cx="8000640" cy="342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5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pilot does not start from zero. It starts from this diagram.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Box 3"/>
          <p:cNvSpPr/>
          <p:nvPr/>
        </p:nvSpPr>
        <p:spPr>
          <a:xfrm>
            <a:off x="762120" y="1619280"/>
            <a:ext cx="3428640" cy="1676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10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04</a:t>
            </a:r>
            <a:endParaRPr lang="en-US" sz="1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4"/>
          <p:cNvSpPr/>
          <p:nvPr/>
        </p:nvSpPr>
        <p:spPr>
          <a:xfrm>
            <a:off x="762120" y="3333600"/>
            <a:ext cx="5714640" cy="603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6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we propose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5"/>
          <p:cNvSpPr/>
          <p:nvPr/>
        </p:nvSpPr>
        <p:spPr>
          <a:xfrm>
            <a:off x="762120" y="4000680"/>
            <a:ext cx="5333760" cy="761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</a:pPr>
            <a:r>
              <a:rPr lang="en-US" sz="15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Five layers, bounded cost, written metrics — and a decision that stays yours.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6"/>
          <p:cNvSpPr/>
          <p:nvPr/>
        </p:nvSpPr>
        <p:spPr>
          <a:xfrm>
            <a:off x="7238880" y="1619280"/>
            <a:ext cx="4190760" cy="361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7"/>
          <p:cNvSpPr/>
          <p:nvPr/>
        </p:nvSpPr>
        <p:spPr>
          <a:xfrm>
            <a:off x="7505640" y="1847880"/>
            <a:ext cx="361908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IN THIS PART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8"/>
          <p:cNvSpPr/>
          <p:nvPr/>
        </p:nvSpPr>
        <p:spPr>
          <a:xfrm>
            <a:off x="7505640" y="2190600"/>
            <a:ext cx="3657240" cy="2476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we build on top of the prototype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Why build thin on rented intelligence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risks — and the controls we design 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0000"/>
              </a:lnSpc>
              <a:buClr>
                <a:srgbClr val="1B243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12 weeks to a real answer: Option A or Option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9"/>
          <p:cNvSpPr/>
          <p:nvPr/>
        </p:nvSpPr>
        <p:spPr>
          <a:xfrm>
            <a:off x="76212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10"/>
          <p:cNvSpPr/>
          <p:nvPr/>
        </p:nvSpPr>
        <p:spPr>
          <a:xfrm>
            <a:off x="104760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1"/>
          <p:cNvSpPr/>
          <p:nvPr/>
        </p:nvSpPr>
        <p:spPr>
          <a:xfrm>
            <a:off x="1333440" y="6058080"/>
            <a:ext cx="132840" cy="132840"/>
          </a:xfrm>
          <a:prstGeom prst="ellipse">
            <a:avLst/>
          </a:prstGeom>
          <a:solidFill>
            <a:srgbClr val="DBE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2"/>
          <p:cNvSpPr/>
          <p:nvPr/>
        </p:nvSpPr>
        <p:spPr>
          <a:xfrm>
            <a:off x="1619280" y="6058080"/>
            <a:ext cx="132840" cy="132840"/>
          </a:xfrm>
          <a:prstGeom prst="ellipse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13"/>
          <p:cNvSpPr/>
          <p:nvPr/>
        </p:nvSpPr>
        <p:spPr>
          <a:xfrm>
            <a:off x="1905120" y="6019920"/>
            <a:ext cx="19047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PART 4 OF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BUILD · 19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4"/>
          <p:cNvSpPr/>
          <p:nvPr/>
        </p:nvSpPr>
        <p:spPr>
          <a:xfrm>
            <a:off x="762120" y="819000"/>
            <a:ext cx="1095336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we build on top — five additions, one pilot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5"/>
          <p:cNvSpPr/>
          <p:nvPr/>
        </p:nvSpPr>
        <p:spPr>
          <a:xfrm>
            <a:off x="762120" y="1619280"/>
            <a:ext cx="7238520" cy="64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"/>
          <p:cNvSpPr/>
          <p:nvPr/>
        </p:nvSpPr>
        <p:spPr>
          <a:xfrm>
            <a:off x="762120" y="2381400"/>
            <a:ext cx="7238520" cy="64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7"/>
          <p:cNvSpPr/>
          <p:nvPr/>
        </p:nvSpPr>
        <p:spPr>
          <a:xfrm>
            <a:off x="762120" y="3143160"/>
            <a:ext cx="7238520" cy="64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8"/>
          <p:cNvSpPr/>
          <p:nvPr/>
        </p:nvSpPr>
        <p:spPr>
          <a:xfrm>
            <a:off x="762120" y="3905280"/>
            <a:ext cx="7238520" cy="64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9"/>
          <p:cNvSpPr/>
          <p:nvPr/>
        </p:nvSpPr>
        <p:spPr>
          <a:xfrm>
            <a:off x="762120" y="4667400"/>
            <a:ext cx="7238520" cy="64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0"/>
          <p:cNvSpPr/>
          <p:nvPr/>
        </p:nvSpPr>
        <p:spPr>
          <a:xfrm>
            <a:off x="990720" y="1714680"/>
            <a:ext cx="678132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1 · LOOP RUNTIME — the agent's engine   </a:t>
            </a: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plan, act, observe with step budgets and retries — sitting directly on the existing model gateway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1"/>
          <p:cNvSpPr/>
          <p:nvPr/>
        </p:nvSpPr>
        <p:spPr>
          <a:xfrm>
            <a:off x="990720" y="2476440"/>
            <a:ext cx="678132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2 · TWO CONNECTORS   </a:t>
            </a: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email + our own task database, behind one standard interface (the MCP standard — slides 7 and 12)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2"/>
          <p:cNvSpPr/>
          <p:nvPr/>
        </p:nvSpPr>
        <p:spPr>
          <a:xfrm>
            <a:off x="990720" y="3238560"/>
            <a:ext cx="678132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3 · TASK AND TEAM MEMORY   </a:t>
            </a: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store decisions, corrections and outcomes next to task state — the schema already tracks jobs step by step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3"/>
          <p:cNvSpPr/>
          <p:nvPr/>
        </p:nvSpPr>
        <p:spPr>
          <a:xfrm>
            <a:off x="990720" y="4000680"/>
            <a:ext cx="678132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4 · SAFETY PLANE   </a:t>
            </a: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per-tool permissions, an approval gate before anything is sent, spend caps, audit log — the gateway already sees every call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4"/>
          <p:cNvSpPr/>
          <p:nvPr/>
        </p:nvSpPr>
        <p:spPr>
          <a:xfrm>
            <a:off x="990720" y="4762440"/>
            <a:ext cx="678132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3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5 · EVALUATION HARNESS   </a:t>
            </a: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ten golden tasks re-run weekly, cost-per-task dashboard — 'done' means passing evaluations, not vibes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5"/>
          <p:cNvSpPr/>
          <p:nvPr/>
        </p:nvSpPr>
        <p:spPr>
          <a:xfrm>
            <a:off x="8381880" y="1619280"/>
            <a:ext cx="3047760" cy="369540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6"/>
          <p:cNvSpPr/>
          <p:nvPr/>
        </p:nvSpPr>
        <p:spPr>
          <a:xfrm>
            <a:off x="8610480" y="1828800"/>
            <a:ext cx="2666520" cy="26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WHY THESE FIVE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7"/>
          <p:cNvSpPr/>
          <p:nvPr/>
        </p:nvSpPr>
        <p:spPr>
          <a:xfrm>
            <a:off x="8610480" y="2171880"/>
            <a:ext cx="2590560" cy="3047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8000"/>
              </a:lnSpc>
              <a:spcAft>
                <a:spcPts val="1199"/>
              </a:spcAft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Every piece exists to answer one question: does an agent save real hours on one real workflow, at a measurable cost?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8000"/>
              </a:lnSpc>
              <a:spcAft>
                <a:spcPts val="1199"/>
              </a:spcAf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Nothing here needs a new language, a new database or a new vendor. Same app, same gateway, same Postgres — five layers added.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8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Rough shape: one small team, six focused build weeks inside a twelve-week pilot.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8"/>
          <p:cNvSpPr/>
          <p:nvPr/>
        </p:nvSpPr>
        <p:spPr>
          <a:xfrm>
            <a:off x="762120" y="5676840"/>
            <a:ext cx="7238520" cy="342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Buy or build? The honest answer on the next slide.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ECONOMICS · 20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Why build thin on rented intelligence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762120" y="1571760"/>
            <a:ext cx="5143320" cy="323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6286680" y="1571760"/>
            <a:ext cx="5143320" cy="323820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1028880" y="1790640"/>
            <a:ext cx="438120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RENT A PLATFORM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8"/>
          <p:cNvSpPr/>
          <p:nvPr/>
        </p:nvSpPr>
        <p:spPr>
          <a:xfrm>
            <a:off x="6553080" y="1790640"/>
            <a:ext cx="457164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BUILD THIN, OWN THE TOP LAYERS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1028880" y="2171880"/>
            <a:ext cx="4476240" cy="2476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Fastest to start — genuinely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shape of your workflow is set by the vendor's defaults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Our data, permissions and audit trail live on their terms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Per-seat and per-task fees stack on top of model prices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buClr>
                <a:srgbClr val="4A5A7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Switching later means rebuilding the workflow from scratch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6553080" y="2171880"/>
            <a:ext cx="4476240" cy="28890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Intelligence stays rented and keeps getting cheaper — token prices fall every quarter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We build layers 2–5: the parts only we can shape around our business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Every vendor stays swappable — one config line, already proven in the prototype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spcAft>
                <a:spcPts val="13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We own the permission model and the audit trail clients ask about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25000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The same stack serves any client workflow we choose next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1"/>
          <p:cNvSpPr/>
          <p:nvPr/>
        </p:nvSpPr>
        <p:spPr>
          <a:xfrm>
            <a:off x="762120" y="5191200"/>
            <a:ext cx="10667520" cy="1142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5000"/>
              </a:lnSpc>
              <a:spcAft>
                <a:spcPts val="601"/>
              </a:spcAft>
            </a:pPr>
            <a:r>
              <a:rPr lang="en-US" sz="13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token math, from the prices on slide 5 — illustrative, not a quote: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5000"/>
              </a:lnSpc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full working day for one agent, roughly 3 million input and 0.5 million output tokens, is about 11 dollars of model cost at GPT-6.1 Sol list prices ($2 in / $10 out per million). Compare that with the hours on slide 16. Intelligence is now a commodity input; the product is the layer above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2"/>
          <p:cNvSpPr/>
          <p:nvPr/>
        </p:nvSpPr>
        <p:spPr>
          <a:xfrm>
            <a:off x="762120" y="6458040"/>
            <a:ext cx="1066752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15000"/>
              </a:lnSpc>
            </a:pPr>
            <a:r>
              <a:rPr lang="en-US" sz="1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We cannot stop this wave by waiting. We can choose whether we ride it owning the top layers, or renting them.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ENGINEERING HONESTY · 17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What can actually go wrong — and the controls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5"/>
          <p:cNvSpPr/>
          <p:nvPr/>
        </p:nvSpPr>
        <p:spPr>
          <a:xfrm>
            <a:off x="762120" y="1428840"/>
            <a:ext cx="3809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7C8AA0"/>
                </a:solidFill>
                <a:effectLst/>
                <a:uFillTx/>
                <a:latin typeface="Segoe UI"/>
                <a:ea typeface="Segoe UI"/>
              </a:rPr>
              <a:t>FAILURE MODE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6"/>
          <p:cNvSpPr/>
          <p:nvPr/>
        </p:nvSpPr>
        <p:spPr>
          <a:xfrm>
            <a:off x="6095880" y="1428840"/>
            <a:ext cx="476208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CONTROL WE DESIGN IN FROM DAY ONE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762120" y="1714680"/>
            <a:ext cx="4762080" cy="72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762120" y="2552760"/>
            <a:ext cx="4762080" cy="72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9"/>
          <p:cNvSpPr/>
          <p:nvPr/>
        </p:nvSpPr>
        <p:spPr>
          <a:xfrm>
            <a:off x="762120" y="3390840"/>
            <a:ext cx="4762080" cy="72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0"/>
          <p:cNvSpPr/>
          <p:nvPr/>
        </p:nvSpPr>
        <p:spPr>
          <a:xfrm>
            <a:off x="762120" y="4229280"/>
            <a:ext cx="4762080" cy="72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1"/>
          <p:cNvSpPr/>
          <p:nvPr/>
        </p:nvSpPr>
        <p:spPr>
          <a:xfrm>
            <a:off x="6286680" y="1714680"/>
            <a:ext cx="5143320" cy="72360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2"/>
          <p:cNvSpPr/>
          <p:nvPr/>
        </p:nvSpPr>
        <p:spPr>
          <a:xfrm>
            <a:off x="6286680" y="2552760"/>
            <a:ext cx="5143320" cy="72360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6286680" y="3390840"/>
            <a:ext cx="5143320" cy="72360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4"/>
          <p:cNvSpPr/>
          <p:nvPr/>
        </p:nvSpPr>
        <p:spPr>
          <a:xfrm>
            <a:off x="6286680" y="4229280"/>
            <a:ext cx="5143320" cy="72360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5600880" y="2000160"/>
            <a:ext cx="53316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6"/>
          <p:cNvSpPr/>
          <p:nvPr/>
        </p:nvSpPr>
        <p:spPr>
          <a:xfrm>
            <a:off x="5600880" y="2838600"/>
            <a:ext cx="53316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7"/>
          <p:cNvSpPr/>
          <p:nvPr/>
        </p:nvSpPr>
        <p:spPr>
          <a:xfrm>
            <a:off x="5600880" y="3676680"/>
            <a:ext cx="53316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8"/>
          <p:cNvSpPr/>
          <p:nvPr/>
        </p:nvSpPr>
        <p:spPr>
          <a:xfrm>
            <a:off x="5600880" y="4514760"/>
            <a:ext cx="533160" cy="151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9D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9"/>
          <p:cNvSpPr/>
          <p:nvPr/>
        </p:nvSpPr>
        <p:spPr>
          <a:xfrm>
            <a:off x="990720" y="1809720"/>
            <a:ext cx="430488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Hidden instructions: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malicious text inside an email or page the agent reads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0"/>
          <p:cNvSpPr/>
          <p:nvPr/>
        </p:nvSpPr>
        <p:spPr>
          <a:xfrm>
            <a:off x="990720" y="2647800"/>
            <a:ext cx="430488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Runaway action: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something irreversible happens faster than anyone can react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1"/>
          <p:cNvSpPr/>
          <p:nvPr/>
        </p:nvSpPr>
        <p:spPr>
          <a:xfrm>
            <a:off x="990720" y="3486240"/>
            <a:ext cx="430488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Cost blowout: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stuck loop burning tokens overnight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22"/>
          <p:cNvSpPr/>
          <p:nvPr/>
        </p:nvSpPr>
        <p:spPr>
          <a:xfrm>
            <a:off x="990720" y="4324320"/>
            <a:ext cx="430488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Silent drift: </a:t>
            </a: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 model update quietly makes output worse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23"/>
          <p:cNvSpPr/>
          <p:nvPr/>
        </p:nvSpPr>
        <p:spPr>
          <a:xfrm>
            <a:off x="6515280" y="1809720"/>
            <a:ext cx="468612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0" u="none" strike="noStrike">
                <a:solidFill>
                  <a:srgbClr val="26418C"/>
                </a:solidFill>
                <a:effectLst/>
                <a:uFillTx/>
                <a:latin typeface="Segoe UI"/>
                <a:ea typeface="Segoe UI"/>
              </a:rPr>
              <a:t>Outside content is data, never commands; approved tool lists; least privilege on every connector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24"/>
          <p:cNvSpPr/>
          <p:nvPr/>
        </p:nvSpPr>
        <p:spPr>
          <a:xfrm>
            <a:off x="6515280" y="2647800"/>
            <a:ext cx="468612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0" u="none" strike="noStrike">
                <a:solidFill>
                  <a:srgbClr val="26418C"/>
                </a:solidFill>
                <a:effectLst/>
                <a:uFillTx/>
                <a:latin typeface="Segoe UI"/>
                <a:ea typeface="Segoe UI"/>
              </a:rPr>
              <a:t>Approval gate before anything leaves; step budgets; dry-run mode for new connectors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5"/>
          <p:cNvSpPr/>
          <p:nvPr/>
        </p:nvSpPr>
        <p:spPr>
          <a:xfrm>
            <a:off x="6515280" y="3486240"/>
            <a:ext cx="468612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0" u="none" strike="noStrike">
                <a:solidFill>
                  <a:srgbClr val="26418C"/>
                </a:solidFill>
                <a:effectLst/>
                <a:uFillTx/>
                <a:latin typeface="Segoe UI"/>
                <a:ea typeface="Segoe UI"/>
              </a:rPr>
              <a:t>Per-task spend caps with alerts — the gateway already meters every call, caps land in week one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6"/>
          <p:cNvSpPr/>
          <p:nvPr/>
        </p:nvSpPr>
        <p:spPr>
          <a:xfrm>
            <a:off x="6515280" y="4324320"/>
            <a:ext cx="4686120" cy="5331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8000"/>
              </a:lnSpc>
            </a:pPr>
            <a:r>
              <a:rPr lang="en-US" sz="1250" b="0" u="none" strike="noStrike">
                <a:solidFill>
                  <a:srgbClr val="26418C"/>
                </a:solidFill>
                <a:effectLst/>
                <a:uFillTx/>
                <a:latin typeface="Segoe UI"/>
                <a:ea typeface="Segoe UI"/>
              </a:rPr>
              <a:t>Golden-task evaluations re-run on every change; versions pinned; rollback is one config line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7"/>
          <p:cNvSpPr/>
          <p:nvPr/>
        </p:nvSpPr>
        <p:spPr>
          <a:xfrm>
            <a:off x="762120" y="5334120"/>
            <a:ext cx="10667520" cy="104724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28"/>
          <p:cNvSpPr/>
          <p:nvPr/>
        </p:nvSpPr>
        <p:spPr>
          <a:xfrm>
            <a:off x="1066680" y="5581800"/>
            <a:ext cx="1523520" cy="571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40%+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29"/>
          <p:cNvSpPr/>
          <p:nvPr/>
        </p:nvSpPr>
        <p:spPr>
          <a:xfrm>
            <a:off x="2666880" y="5486400"/>
            <a:ext cx="8762760" cy="7617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Gartner expects over 40% of agentic AI projects to be cancelled by end of 2027. The causes repeat: no real use case, no measurement, no controls. Slides 16, 19 and this one are our answer to each — in that order.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3"/>
          <p:cNvSpPr/>
          <p:nvPr/>
        </p:nvSpPr>
        <p:spPr>
          <a:xfrm>
            <a:off x="762120" y="53352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THE PLAN · 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4"/>
          <p:cNvSpPr/>
          <p:nvPr/>
        </p:nvSpPr>
        <p:spPr>
          <a:xfrm>
            <a:off x="762120" y="819000"/>
            <a:ext cx="10477080" cy="5360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3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12 weeks to a real answer — and the decision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762120" y="1600200"/>
            <a:ext cx="5333760" cy="125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762120" y="3009960"/>
            <a:ext cx="5333760" cy="125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762120" y="4419720"/>
            <a:ext cx="5333760" cy="125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8"/>
          <p:cNvSpPr/>
          <p:nvPr/>
        </p:nvSpPr>
        <p:spPr>
          <a:xfrm>
            <a:off x="990720" y="1733400"/>
            <a:ext cx="48765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WEEKS 1–2 · DECIDE WHAT SUCCESS LOOKS LIKE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9"/>
          <p:cNvSpPr/>
          <p:nvPr/>
        </p:nvSpPr>
        <p:spPr>
          <a:xfrm>
            <a:off x="990720" y="2019240"/>
            <a:ext cx="4876560" cy="799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Pick one workflow with the business; write the metric and the spend cap before any code. </a:t>
            </a: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You get: a one-page definition of done — hours to save, cost ceiling, the ten test tasks.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0"/>
          <p:cNvSpPr/>
          <p:nvPr/>
        </p:nvSpPr>
        <p:spPr>
          <a:xfrm>
            <a:off x="990720" y="3143160"/>
            <a:ext cx="48765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WEEKS 3–8 · BUILD THE FIVE LAYERS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1"/>
          <p:cNvSpPr/>
          <p:nvPr/>
        </p:nvSpPr>
        <p:spPr>
          <a:xfrm>
            <a:off x="990720" y="3429000"/>
            <a:ext cx="4876560" cy="799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Loop runtime on the existing gateway, two connectors, safety plane wired from day one. </a:t>
            </a: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You get: a live agent on a real workflow and a working demo every Friday — no big reveal at the end.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2"/>
          <p:cNvSpPr/>
          <p:nvPr/>
        </p:nvSpPr>
        <p:spPr>
          <a:xfrm>
            <a:off x="990720" y="4552920"/>
            <a:ext cx="4876560" cy="228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WEEKS 9–12 · MEASURE, THEN DECIDE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3"/>
          <p:cNvSpPr/>
          <p:nvPr/>
        </p:nvSpPr>
        <p:spPr>
          <a:xfrm>
            <a:off x="990720" y="4838760"/>
            <a:ext cx="4876560" cy="799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Hours saved, cost per task, evaluation scores — measured, not estimated. </a:t>
            </a:r>
            <a:r>
              <a:rPr lang="en-US" sz="12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You get: a go/no-go call on real numbers — and a reusable platform either way it goes.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6667560" y="1600200"/>
            <a:ext cx="4762080" cy="1428480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15"/>
          <p:cNvSpPr/>
          <p:nvPr/>
        </p:nvSpPr>
        <p:spPr>
          <a:xfrm>
            <a:off x="6896160" y="1790640"/>
            <a:ext cx="4381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OPTION A — FUND THE PILOT (RECOMMENDED)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16"/>
          <p:cNvSpPr/>
          <p:nvPr/>
        </p:nvSpPr>
        <p:spPr>
          <a:xfrm>
            <a:off x="6896160" y="2114640"/>
            <a:ext cx="4304880" cy="10094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One small team, one workflow, spend capped by the written budget from week 1. Ends with evidence you can act on — scale it, redirect it, or stop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7"/>
          <p:cNvSpPr/>
          <p:nvPr/>
        </p:nvSpPr>
        <p:spPr>
          <a:xfrm>
            <a:off x="6667560" y="3257640"/>
            <a:ext cx="4762080" cy="1428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BE2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8"/>
          <p:cNvSpPr/>
          <p:nvPr/>
        </p:nvSpPr>
        <p:spPr>
          <a:xfrm>
            <a:off x="6896160" y="3448080"/>
            <a:ext cx="438120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OPTION B — STAY ON WATCH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9"/>
          <p:cNvSpPr/>
          <p:nvPr/>
        </p:nvSpPr>
        <p:spPr>
          <a:xfrm>
            <a:off x="6896160" y="3772080"/>
            <a:ext cx="4304880" cy="10094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Zero spend today; revisit next quarter. Perfectly defensible — if you accept that the launch calendar on slide 4 will not pause for the meeting.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6667560" y="4915080"/>
            <a:ext cx="4762080" cy="875880"/>
          </a:xfrm>
          <a:prstGeom prst="roundRect">
            <a:avLst>
              <a:gd name="adj" fmla="val 16667"/>
            </a:avLst>
          </a:prstGeom>
          <a:solidFill>
            <a:srgbClr val="E8EFFB"/>
          </a:solidFill>
          <a:ln w="12700">
            <a:solidFill>
              <a:srgbClr val="C6D6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1"/>
          <p:cNvSpPr/>
          <p:nvPr/>
        </p:nvSpPr>
        <p:spPr>
          <a:xfrm>
            <a:off x="6896160" y="5048280"/>
            <a:ext cx="4304880" cy="69696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2000"/>
              </a:lnSpc>
            </a:pPr>
            <a:r>
              <a:rPr lang="en-US" sz="125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Why we recommend A: </a:t>
            </a: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the pilot's cost is bounded and known; the cost of B is unbounded and invisible — skills, position and client expectations move without us.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22"/>
          <p:cNvSpPr/>
          <p:nvPr/>
        </p:nvSpPr>
        <p:spPr>
          <a:xfrm>
            <a:off x="762120" y="6039000"/>
            <a:ext cx="10667520" cy="4831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22000"/>
              </a:lnSpc>
            </a:pPr>
            <a:r>
              <a:rPr lang="en-US" sz="130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88% of organizations use AI; only 23% have scaled agents (McKinsey). The gap is not better tools — it is a narrow workflow, a written metric, and a team that shipped. We are asking for a decision in your time, not ours.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Box 3"/>
          <p:cNvSpPr/>
          <p:nvPr/>
        </p:nvSpPr>
        <p:spPr>
          <a:xfrm>
            <a:off x="762120" y="762120"/>
            <a:ext cx="9524520" cy="6397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n-US" sz="4000" b="1" u="none" strike="noStrike">
                <a:solidFill>
                  <a:srgbClr val="1B2430"/>
                </a:solidFill>
                <a:effectLst/>
                <a:uFillTx/>
                <a:latin typeface="Segoe UI"/>
                <a:ea typeface="Segoe UI"/>
              </a:rPr>
              <a:t>Thank you — questions welcome.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762120" y="1409760"/>
            <a:ext cx="7619760" cy="2854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5000"/>
              </a:lnSpc>
            </a:pPr>
            <a:r>
              <a:rPr lang="en-US" sz="1400" b="0" u="none" strike="noStrike">
                <a:solidFill>
                  <a:srgbClr val="5C6B80"/>
                </a:solidFill>
                <a:effectLst/>
                <a:uFillTx/>
                <a:latin typeface="Segoe UI"/>
                <a:ea typeface="Segoe UI"/>
              </a:rPr>
              <a:t>Everything cited is current as of September 30, 2026.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5"/>
          <p:cNvSpPr/>
          <p:nvPr/>
        </p:nvSpPr>
        <p:spPr>
          <a:xfrm>
            <a:off x="762120" y="1866960"/>
            <a:ext cx="10667520" cy="37800"/>
          </a:xfrm>
          <a:prstGeom prst="rect">
            <a:avLst/>
          </a:prstGeom>
          <a:solidFill>
            <a:srgbClr val="2F6B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6"/>
          <p:cNvSpPr/>
          <p:nvPr/>
        </p:nvSpPr>
        <p:spPr>
          <a:xfrm>
            <a:off x="762120" y="2095560"/>
            <a:ext cx="380952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SOURCES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7"/>
          <p:cNvSpPr/>
          <p:nvPr/>
        </p:nvSpPr>
        <p:spPr>
          <a:xfrm>
            <a:off x="762120" y="2362320"/>
            <a:ext cx="10667520" cy="2761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OpenAI DevDay 2026 — Dots, GPT-6.1 Sol and pricing, ChatGPT Space, Pro $500 tier: Mashable, Sep 29,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OpenAI Presence, enterprise agent deployment: openai.com, Jul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xAI — Grok Team Bots (Sep 29), Grok 4.7 (Sep 21), Grok Build updates, Transcribe 2.0 (Sep 18): x.ai news and release notes, Sep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Manus — Meta accession (Dec 29, 2025), token and sandbox scale figures: manus.im; desktop app: CNBC, Mar 18, 2026; Ads Manager: MediaPost,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Anthropic — Cowork launch: Fortune, Jan 13, 2026; enterprise plugins: TechCrunch, Feb 24, 2026; MCP standard: modelcontextprotocol.io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Google — Gemini Enterprise Agent Platform: Google Cloud blog, Apr 22,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spcAft>
                <a:spcPts val="601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Multi-agent patterns — chains, graphs, crews, group chat and A2A: LangChain and AutoGen documentation, protocol ecosystem surveys,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2000"/>
              </a:lnSpc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Adoption and risk figures — McKinsey, Gartner, IDC, PwC 2026 reports, compiled Feb 2026 (joget.com analyst roundup)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8"/>
          <p:cNvSpPr/>
          <p:nvPr/>
        </p:nvSpPr>
        <p:spPr>
          <a:xfrm>
            <a:off x="762120" y="5295960"/>
            <a:ext cx="5714640" cy="2473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en-US" sz="1300" b="1" u="none" strike="noStrike">
                <a:solidFill>
                  <a:srgbClr val="2F6BFF"/>
                </a:solidFill>
                <a:effectLst/>
                <a:uFillTx/>
                <a:latin typeface="Segoe UI"/>
                <a:ea typeface="Segoe UI"/>
              </a:rPr>
              <a:t>NOTES ON WHAT IS MEASURED VS ILLUSTRATED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9"/>
          <p:cNvSpPr/>
          <p:nvPr/>
        </p:nvSpPr>
        <p:spPr>
          <a:xfrm>
            <a:off x="762120" y="5562720"/>
            <a:ext cx="10667520" cy="10472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>
              <a:lnSpc>
                <a:spcPct val="118000"/>
              </a:lnSpc>
              <a:spcAft>
                <a:spcPts val="499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prototype on slide 17 is internal, running and verified (type checks, tests, production build) — a proof of concept, not production software.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8000"/>
              </a:lnSpc>
              <a:spcAft>
                <a:spcPts val="499"/>
              </a:spcAft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The workflow hours on slide 16 and the token cost on slide 20 are clearly-labeled illustrations, derived from published list prices — the pilot replaces them with our real numbers.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118000"/>
              </a:lnSpc>
              <a:buClr>
                <a:srgbClr val="4A5A7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4A5A70"/>
                </a:solidFill>
                <a:effectLst/>
                <a:uFillTx/>
                <a:latin typeface="Segoe UI"/>
                <a:ea typeface="Segoe UI"/>
              </a:rPr>
              <a:t>No launch date, price or figure in this deck is estimated unless marked so.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Microsoft YaHei" pitchFamily="0" charset="1"/>
        <a:cs typeface=""/>
      </a:majorFont>
      <a:minorFont>
        <a:latin typeface="Calibri" pitchFamily="0" charset="1"/>
        <a:ea typeface="Microsoft YaHei" pitchFamily="0" charset="1"/>
        <a:cs typeface="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/>
        <a:ln w="12700"/>
        <a:ln w="19050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2026-09-30T20:25:57Z</dcterms:modified>
  <cp:revision>1</cp:revision>
  <dc:subject/>
  <dc:title/>
</cp:coreProperties>
</file>